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7" r:id="rId13"/>
    <p:sldId id="273" r:id="rId14"/>
    <p:sldId id="274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69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0"/>
            <a:ext cx="54864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320040" cy="68580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82912" y="0"/>
            <a:ext cx="457200" cy="6858000"/>
          </a:xfrm>
          <a:prstGeom prst="rect">
            <a:avLst/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22992" y="0"/>
            <a:ext cx="274320" cy="6858000"/>
          </a:xfrm>
          <a:prstGeom prst="rect">
            <a:avLst/>
          </a:prstGeom>
          <a:solidFill>
            <a:srgbClr val="8B4A63"/>
          </a:solidFill>
          <a:ln w="12700">
            <a:solidFill>
              <a:srgbClr val="8B4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80192" y="0"/>
            <a:ext cx="50292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UJK BNSP  ·  JUNIOR WEB DEVELOPER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i="1" dirty="0" err="1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PustakaIkhlas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Buku Online Berbasis Web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9728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Ikhlas Putra Pambagyo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Informatika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303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Pembangunan Nasional "Veteran" Jawa Timur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Surabaya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PERKENALAN DIRI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2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Ikhlas Putra Pambagyo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Informatika · Full-Stack Web Developer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728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UPN "Veteran" Jawa Timur · Semester 6 · IPK 3.9/4.0. Fokus pada pengembangan aplikasi Full-Stack berbasis Laravel, Tailwind CSS, dan MySQL.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 Web Development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416552"/>
            <a:ext cx="54864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4690872"/>
            <a:ext cx="164592" cy="164592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58114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 PIBITI — HIMATIFA (2024)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7914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10, Tailwind, MySQL. Sistem pendaftaran 100+ peserta dengan dashboard admin.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5138928"/>
            <a:ext cx="164592" cy="164592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29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Profil Desa Nogosari — Abdi Desa (2024)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239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+ Figma. Portal digitalisasi UMKM dan pariwisata desa.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164592" cy="164592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86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UKM Penalaran &amp; Kreativitas UPNVJT (2024)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6967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Website. Maintenance, SEO dasar, dan hardening keamanan situs.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UJK BNSP Junior Web Developer</a:t>
            </a:r>
            <a:endParaRPr lang="en-US" sz="1000" dirty="0"/>
          </a:p>
        </p:txBody>
      </p:sp>
      <p:pic>
        <p:nvPicPr>
          <p:cNvPr id="15" name="Gambar 14">
            <a:extLst>
              <a:ext uri="{FF2B5EF4-FFF2-40B4-BE49-F238E27FC236}">
                <a16:creationId xmlns:a16="http://schemas.microsoft.com/office/drawing/2014/main" id="{581C8BB7-2C85-FCD6-0060-2D3FA2F1F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6" y="1053970"/>
            <a:ext cx="1971247" cy="2464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Daftar Isi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saja yang akan kita bahas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7203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423160"/>
            <a:ext cx="1706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Latar Belakang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</a:t>
            </a: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dibutuhkan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03550" y="2286000"/>
            <a:ext cx="207203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86430" y="2423160"/>
            <a:ext cx="1706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86430" y="288036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86430" y="338328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yang digunakan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58461" y="2286000"/>
            <a:ext cx="207203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41341" y="2423160"/>
            <a:ext cx="1706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241341" y="288036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Arsitektur Sistem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41341" y="338328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frontend, database, payment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3371" y="2286000"/>
            <a:ext cx="207203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6251" y="2423160"/>
            <a:ext cx="1706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96251" y="288036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Diagram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6251" y="338328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Interaksi User &amp; Admin dengan sistem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68282" y="2286000"/>
            <a:ext cx="207203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51162" y="2423160"/>
            <a:ext cx="1706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751162" y="288036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&amp; ERD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51162" y="338328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utama dan relasinya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207203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251960"/>
            <a:ext cx="1706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1520" y="4709160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Fitur Admin &amp; User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5212080"/>
            <a:ext cx="1706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terhadap skenario</a:t>
            </a:r>
            <a:endParaRPr lang="en-US" sz="1000" dirty="0"/>
          </a:p>
        </p:txBody>
      </p:sp>
      <p:grpSp>
        <p:nvGrpSpPr>
          <p:cNvPr id="39" name="Grup 38">
            <a:extLst>
              <a:ext uri="{FF2B5EF4-FFF2-40B4-BE49-F238E27FC236}">
                <a16:creationId xmlns:a16="http://schemas.microsoft.com/office/drawing/2014/main" id="{74B0A87C-78E9-9887-F774-6B5EEBF52DF2}"/>
              </a:ext>
            </a:extLst>
          </p:cNvPr>
          <p:cNvGrpSpPr/>
          <p:nvPr/>
        </p:nvGrpSpPr>
        <p:grpSpPr>
          <a:xfrm>
            <a:off x="5058461" y="4114800"/>
            <a:ext cx="2072030" cy="1554480"/>
            <a:chOff x="2803550" y="4114800"/>
            <a:chExt cx="2072030" cy="1554480"/>
          </a:xfrm>
        </p:grpSpPr>
        <p:sp>
          <p:nvSpPr>
            <p:cNvPr id="29" name="Shape 27"/>
            <p:cNvSpPr/>
            <p:nvPr/>
          </p:nvSpPr>
          <p:spPr>
            <a:xfrm>
              <a:off x="2803550" y="4114800"/>
              <a:ext cx="207203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CBB8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0" name="Text 28"/>
            <p:cNvSpPr/>
            <p:nvPr/>
          </p:nvSpPr>
          <p:spPr>
            <a:xfrm>
              <a:off x="2986430" y="4251960"/>
              <a:ext cx="170627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i="1" dirty="0">
                  <a:solidFill>
                    <a:srgbClr val="C9A9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08</a:t>
              </a:r>
              <a:endParaRPr lang="en-US" sz="26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2986430" y="4709160"/>
              <a:ext cx="170627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6D2E4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Screenshot UI</a:t>
              </a:r>
              <a:endParaRPr lang="en-US" sz="14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986430" y="5212080"/>
              <a:ext cx="170627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Tangkapan layar aplikasi</a:t>
              </a:r>
              <a:endParaRPr lang="en-US" sz="1000" dirty="0"/>
            </a:p>
          </p:txBody>
        </p:sp>
      </p:grpSp>
      <p:grpSp>
        <p:nvGrpSpPr>
          <p:cNvPr id="38" name="Grup 37">
            <a:extLst>
              <a:ext uri="{FF2B5EF4-FFF2-40B4-BE49-F238E27FC236}">
                <a16:creationId xmlns:a16="http://schemas.microsoft.com/office/drawing/2014/main" id="{4DC4987C-D907-8B09-B147-BFB2E37BDE92}"/>
              </a:ext>
            </a:extLst>
          </p:cNvPr>
          <p:cNvGrpSpPr/>
          <p:nvPr/>
        </p:nvGrpSpPr>
        <p:grpSpPr>
          <a:xfrm>
            <a:off x="2803550" y="4114800"/>
            <a:ext cx="2072030" cy="1554480"/>
            <a:chOff x="4442641" y="4114800"/>
            <a:chExt cx="2072030" cy="1554480"/>
          </a:xfrm>
        </p:grpSpPr>
        <p:sp>
          <p:nvSpPr>
            <p:cNvPr id="33" name="Shape 31"/>
            <p:cNvSpPr/>
            <p:nvPr/>
          </p:nvSpPr>
          <p:spPr>
            <a:xfrm>
              <a:off x="4442641" y="4114800"/>
              <a:ext cx="207203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CBB8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34" name="Text 32"/>
            <p:cNvSpPr/>
            <p:nvPr/>
          </p:nvSpPr>
          <p:spPr>
            <a:xfrm>
              <a:off x="4625521" y="4251960"/>
              <a:ext cx="170627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i="1" dirty="0">
                  <a:solidFill>
                    <a:srgbClr val="C9A9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07</a:t>
              </a:r>
              <a:endParaRPr lang="en-US" sz="2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625521" y="4709160"/>
              <a:ext cx="170627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6D2E4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Integrasi </a:t>
              </a:r>
              <a:r>
                <a:rPr lang="en-US" sz="1400" b="1" dirty="0" err="1">
                  <a:solidFill>
                    <a:srgbClr val="6D2E4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Midtrans</a:t>
              </a:r>
              <a:endParaRPr lang="en-US" sz="14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625521" y="5212080"/>
              <a:ext cx="170627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Alur pembayaran sandbox</a:t>
              </a:r>
              <a:endParaRPr lang="en-US" sz="1000" dirty="0"/>
            </a:p>
          </p:txBody>
        </p:sp>
      </p:grpSp>
      <p:sp>
        <p:nvSpPr>
          <p:cNvPr id="41" name="Text 39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UJK BNSP Junior Web Developer</a:t>
            </a:r>
            <a:endParaRPr lang="en-US" sz="1000" dirty="0"/>
          </a:p>
        </p:txBody>
      </p:sp>
      <p:grpSp>
        <p:nvGrpSpPr>
          <p:cNvPr id="37" name="Grup 36">
            <a:extLst>
              <a:ext uri="{FF2B5EF4-FFF2-40B4-BE49-F238E27FC236}">
                <a16:creationId xmlns:a16="http://schemas.microsoft.com/office/drawing/2014/main" id="{643AEA88-31A9-C15C-B4AB-C14A3FC6EAA9}"/>
              </a:ext>
            </a:extLst>
          </p:cNvPr>
          <p:cNvGrpSpPr/>
          <p:nvPr/>
        </p:nvGrpSpPr>
        <p:grpSpPr>
          <a:xfrm>
            <a:off x="7313371" y="4114800"/>
            <a:ext cx="2072030" cy="1554480"/>
            <a:chOff x="2803550" y="4114800"/>
            <a:chExt cx="2072030" cy="1554480"/>
          </a:xfrm>
        </p:grpSpPr>
        <p:sp>
          <p:nvSpPr>
            <p:cNvPr id="40" name="Shape 27">
              <a:extLst>
                <a:ext uri="{FF2B5EF4-FFF2-40B4-BE49-F238E27FC236}">
                  <a16:creationId xmlns:a16="http://schemas.microsoft.com/office/drawing/2014/main" id="{49CF8C96-7649-FC94-3DF9-68E52CBDE45E}"/>
                </a:ext>
              </a:extLst>
            </p:cNvPr>
            <p:cNvSpPr/>
            <p:nvPr/>
          </p:nvSpPr>
          <p:spPr>
            <a:xfrm>
              <a:off x="2803550" y="4114800"/>
              <a:ext cx="207203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CBB8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43" name="Text 28">
              <a:extLst>
                <a:ext uri="{FF2B5EF4-FFF2-40B4-BE49-F238E27FC236}">
                  <a16:creationId xmlns:a16="http://schemas.microsoft.com/office/drawing/2014/main" id="{BA617182-A102-2170-4774-3FEDAD88695F}"/>
                </a:ext>
              </a:extLst>
            </p:cNvPr>
            <p:cNvSpPr/>
            <p:nvPr/>
          </p:nvSpPr>
          <p:spPr>
            <a:xfrm>
              <a:off x="2986430" y="4251960"/>
              <a:ext cx="170627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i="1" dirty="0">
                  <a:solidFill>
                    <a:srgbClr val="C9A9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09</a:t>
              </a:r>
              <a:endParaRPr lang="en-US" sz="2600" dirty="0"/>
            </a:p>
          </p:txBody>
        </p:sp>
        <p:sp>
          <p:nvSpPr>
            <p:cNvPr id="44" name="Text 29">
              <a:extLst>
                <a:ext uri="{FF2B5EF4-FFF2-40B4-BE49-F238E27FC236}">
                  <a16:creationId xmlns:a16="http://schemas.microsoft.com/office/drawing/2014/main" id="{7AC3E3C2-D5A4-B443-FAE2-E2349F9DF61A}"/>
                </a:ext>
              </a:extLst>
            </p:cNvPr>
            <p:cNvSpPr/>
            <p:nvPr/>
          </p:nvSpPr>
          <p:spPr>
            <a:xfrm>
              <a:off x="2986430" y="4709160"/>
              <a:ext cx="170627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 err="1">
                  <a:solidFill>
                    <a:srgbClr val="6D2E4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Potongan</a:t>
              </a:r>
              <a:r>
                <a:rPr lang="en-US" sz="1400" b="1" dirty="0">
                  <a:solidFill>
                    <a:srgbClr val="6D2E4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Kode</a:t>
              </a:r>
              <a:endParaRPr lang="en-US" sz="1400" dirty="0"/>
            </a:p>
          </p:txBody>
        </p:sp>
        <p:sp>
          <p:nvSpPr>
            <p:cNvPr id="45" name="Text 30">
              <a:extLst>
                <a:ext uri="{FF2B5EF4-FFF2-40B4-BE49-F238E27FC236}">
                  <a16:creationId xmlns:a16="http://schemas.microsoft.com/office/drawing/2014/main" id="{94CC45FB-E5D4-956C-B283-BED85A074B17}"/>
                </a:ext>
              </a:extLst>
            </p:cNvPr>
            <p:cNvSpPr/>
            <p:nvPr/>
          </p:nvSpPr>
          <p:spPr>
            <a:xfrm>
              <a:off x="2986430" y="5212080"/>
              <a:ext cx="170627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i="1" dirty="0" err="1">
                  <a:solidFill>
                    <a:srgbClr val="8A7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Midtrans</a:t>
              </a:r>
              <a:r>
                <a:rPr lang="en-US" sz="1000" i="1" dirty="0">
                  <a:solidFill>
                    <a:srgbClr val="8A7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Webhook Callback</a:t>
              </a:r>
              <a:endParaRPr lang="en-US" sz="1000" dirty="0"/>
            </a:p>
          </p:txBody>
        </p:sp>
      </p:grpSp>
      <p:grpSp>
        <p:nvGrpSpPr>
          <p:cNvPr id="46" name="Grup 45">
            <a:extLst>
              <a:ext uri="{FF2B5EF4-FFF2-40B4-BE49-F238E27FC236}">
                <a16:creationId xmlns:a16="http://schemas.microsoft.com/office/drawing/2014/main" id="{B4517F57-06BB-594F-3A0F-B408178C45E1}"/>
              </a:ext>
            </a:extLst>
          </p:cNvPr>
          <p:cNvGrpSpPr/>
          <p:nvPr/>
        </p:nvGrpSpPr>
        <p:grpSpPr>
          <a:xfrm>
            <a:off x="9568281" y="4084320"/>
            <a:ext cx="2072030" cy="1554480"/>
            <a:chOff x="2803550" y="4114800"/>
            <a:chExt cx="2072030" cy="1554480"/>
          </a:xfrm>
        </p:grpSpPr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A8CC8C1E-C78C-5A04-D91F-F10EB6CD60FB}"/>
                </a:ext>
              </a:extLst>
            </p:cNvPr>
            <p:cNvSpPr/>
            <p:nvPr/>
          </p:nvSpPr>
          <p:spPr>
            <a:xfrm>
              <a:off x="2803550" y="4114800"/>
              <a:ext cx="207203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CBB8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48" name="Text 28">
              <a:extLst>
                <a:ext uri="{FF2B5EF4-FFF2-40B4-BE49-F238E27FC236}">
                  <a16:creationId xmlns:a16="http://schemas.microsoft.com/office/drawing/2014/main" id="{6216A7B6-8CDC-D1AA-A728-EDF3DA640195}"/>
                </a:ext>
              </a:extLst>
            </p:cNvPr>
            <p:cNvSpPr/>
            <p:nvPr/>
          </p:nvSpPr>
          <p:spPr>
            <a:xfrm>
              <a:off x="2986430" y="4251960"/>
              <a:ext cx="170627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i="1" dirty="0">
                  <a:solidFill>
                    <a:srgbClr val="C9A96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10</a:t>
              </a:r>
              <a:endParaRPr lang="en-US" sz="2600" dirty="0"/>
            </a:p>
          </p:txBody>
        </p:sp>
        <p:sp>
          <p:nvSpPr>
            <p:cNvPr id="49" name="Text 29">
              <a:extLst>
                <a:ext uri="{FF2B5EF4-FFF2-40B4-BE49-F238E27FC236}">
                  <a16:creationId xmlns:a16="http://schemas.microsoft.com/office/drawing/2014/main" id="{58240D36-B281-25EE-C54D-9FD7B15FE201}"/>
                </a:ext>
              </a:extLst>
            </p:cNvPr>
            <p:cNvSpPr/>
            <p:nvPr/>
          </p:nvSpPr>
          <p:spPr>
            <a:xfrm>
              <a:off x="2986430" y="4709160"/>
              <a:ext cx="170627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 err="1">
                  <a:solidFill>
                    <a:srgbClr val="6D2E4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Struktur</a:t>
              </a:r>
              <a:r>
                <a:rPr lang="en-US" sz="1400" b="1" dirty="0">
                  <a:solidFill>
                    <a:srgbClr val="6D2E4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Folder Project</a:t>
              </a:r>
              <a:endParaRPr lang="en-US" sz="1400" dirty="0"/>
            </a:p>
          </p:txBody>
        </p:sp>
        <p:sp>
          <p:nvSpPr>
            <p:cNvPr id="50" name="Text 30">
              <a:extLst>
                <a:ext uri="{FF2B5EF4-FFF2-40B4-BE49-F238E27FC236}">
                  <a16:creationId xmlns:a16="http://schemas.microsoft.com/office/drawing/2014/main" id="{9CBAD1AC-2868-B4B2-BFD5-82E5B63A9D5C}"/>
                </a:ext>
              </a:extLst>
            </p:cNvPr>
            <p:cNvSpPr/>
            <p:nvPr/>
          </p:nvSpPr>
          <p:spPr>
            <a:xfrm>
              <a:off x="2986430" y="5212080"/>
              <a:ext cx="170627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Organisasi file frontend &amp; backend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Latar Belakang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id-ID" sz="1300" b="1" dirty="0">
                <a:solidFill>
                  <a:srgbClr val="6D2E46"/>
                </a:solidFill>
                <a:latin typeface="Calibri" pitchFamily="34" charset="0"/>
              </a:rPr>
              <a:t>📈  Pertumbuhan E-Commerce Indonesia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id-ID" sz="1200" dirty="0">
                <a:solidFill>
                  <a:srgbClr val="444444"/>
                </a:solidFill>
                <a:latin typeface="Calibri" pitchFamily="34" charset="0"/>
              </a:rPr>
              <a:t>Nilai pasar e-commerce Indonesia mencapai </a:t>
            </a:r>
            <a:r>
              <a:rPr lang="id-ID" sz="1200" b="1" dirty="0">
                <a:solidFill>
                  <a:srgbClr val="6D2E46"/>
                </a:solidFill>
                <a:latin typeface="Calibri" pitchFamily="34" charset="0"/>
              </a:rPr>
              <a:t>USD 62 miliar (2023)</a:t>
            </a:r>
            <a:r>
              <a:rPr lang="id-ID" sz="1200" dirty="0">
                <a:solidFill>
                  <a:srgbClr val="444444"/>
                </a:solidFill>
                <a:latin typeface="Calibri" pitchFamily="34" charset="0"/>
              </a:rPr>
              <a:t> dan diproyeksikan tumbuh </a:t>
            </a:r>
            <a:r>
              <a:rPr lang="id-ID" sz="1200" b="1" dirty="0">
                <a:solidFill>
                  <a:srgbClr val="6D2E46"/>
                </a:solidFill>
                <a:latin typeface="Calibri" pitchFamily="34" charset="0"/>
              </a:rPr>
              <a:t>14% per tahun hingga 2027</a:t>
            </a:r>
            <a:r>
              <a:rPr lang="id-ID" sz="1100" dirty="0">
                <a:solidFill>
                  <a:srgbClr val="888888"/>
                </a:solidFill>
                <a:latin typeface="Calibri" pitchFamily="34" charset="0"/>
              </a:rPr>
              <a:t> (Google-Temasek-Bain, e-Conomy SEA 2023)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id-ID" sz="1300" b="1" dirty="0">
                <a:solidFill>
                  <a:srgbClr val="6D2E46"/>
                </a:solidFill>
                <a:latin typeface="Calibri" pitchFamily="34" charset="0"/>
              </a:rPr>
              <a:t>📙  Pasar Buku Online Meningkat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id-ID" sz="1200" dirty="0">
                <a:solidFill>
                  <a:srgbClr val="444444"/>
                </a:solidFill>
                <a:latin typeface="Calibri" pitchFamily="34" charset="0"/>
              </a:rPr>
              <a:t>Penjualan buku online global tumbuh </a:t>
            </a:r>
            <a:r>
              <a:rPr lang="id-ID" sz="1200" b="1" dirty="0">
                <a:solidFill>
                  <a:srgbClr val="6D2E46"/>
                </a:solidFill>
                <a:latin typeface="Calibri" pitchFamily="34" charset="0"/>
              </a:rPr>
              <a:t>7.5% CAGR (2022–2028)</a:t>
            </a:r>
            <a:r>
              <a:rPr lang="id-ID" sz="1200" dirty="0">
                <a:solidFill>
                  <a:srgbClr val="444444"/>
                </a:solidFill>
                <a:latin typeface="Calibri" pitchFamily="34" charset="0"/>
              </a:rPr>
              <a:t>. Di Indonesia, penetrasi belanja online buku meningkat sejak pandemi — mendorong kebutuhan platform digital yang andal bagi toko buku lokal.</a:t>
            </a:r>
            <a:r>
              <a:rPr lang="id-ID" sz="1100" dirty="0">
                <a:solidFill>
                  <a:srgbClr val="888888"/>
                </a:solidFill>
                <a:latin typeface="Calibri" pitchFamily="34" charset="0"/>
              </a:rPr>
              <a:t> (Mordor Intelligence, 2023)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id-ID" sz="1300" b="1" dirty="0">
                <a:solidFill>
                  <a:srgbClr val="6D2E46"/>
                </a:solidFill>
                <a:latin typeface="Calibri" pitchFamily="34" charset="0"/>
              </a:rPr>
              <a:t>💳  Adopsi Pembayaran Digital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id-ID" sz="1200" b="1" dirty="0">
                <a:solidFill>
                  <a:srgbClr val="6D2E46"/>
                </a:solidFill>
                <a:latin typeface="Calibri" pitchFamily="34" charset="0"/>
              </a:rPr>
              <a:t>72%</a:t>
            </a:r>
            <a:r>
              <a:rPr lang="id-ID" sz="1200" dirty="0">
                <a:solidFill>
                  <a:srgbClr val="444444"/>
                </a:solidFill>
                <a:latin typeface="Calibri" pitchFamily="34" charset="0"/>
              </a:rPr>
              <a:t> transaksi online di Indonesia dilakukan via digital payment (Bank Indonesia, 2023). Midtrans menguasai </a:t>
            </a:r>
            <a:r>
              <a:rPr lang="id-ID" sz="1200" b="1" dirty="0">
                <a:solidFill>
                  <a:srgbClr val="6D2E46"/>
                </a:solidFill>
                <a:latin typeface="Calibri" pitchFamily="34" charset="0"/>
              </a:rPr>
              <a:t>lebih dari 40%</a:t>
            </a:r>
            <a:r>
              <a:rPr lang="id-ID" sz="1200" dirty="0">
                <a:solidFill>
                  <a:srgbClr val="444444"/>
                </a:solidFill>
                <a:latin typeface="Calibri" pitchFamily="34" charset="0"/>
              </a:rPr>
              <a:t> pangsa pasar payment gateway Indonesia, menjadikannya pilihan utama untuk integrasi pembayaran yang aman dan terpercaya.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0" y="1828800"/>
            <a:ext cx="512064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UJK BNSP Junior Web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yang digunakan dalam </a:t>
            </a:r>
            <a:r>
              <a:rPr lang="en-US" sz="14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</a:t>
            </a:r>
            <a:r>
              <a:rPr lang="en-US" sz="14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0" cy="41148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657600" cy="594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Laravel 13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10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PHP MVC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867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PHP 8.3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153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pemrograman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672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020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authentication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477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Eloquent 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824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abstraction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194560"/>
            <a:ext cx="3657600" cy="41148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194560"/>
            <a:ext cx="3657600" cy="5943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194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3440" y="3410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 JavaScript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867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63440" y="42153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672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3440" y="5020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&amp; dev server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5477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63440" y="5824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REST API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2194560"/>
            <a:ext cx="3657600" cy="41148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194560"/>
            <a:ext cx="3657600" cy="5943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21945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Service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039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03920" y="3410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3867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Midtrans Snap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03920" y="42153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4672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03920" y="50200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client-server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5477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03920" y="5824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UJK BNSP Junior Web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Arsitektur Sistem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frontend, database, dan payment service yang terkoneksi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/ Browser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via web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18288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1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Database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0" y="2194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db_booksales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tabel ter-relasi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0" y="33832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3383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1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Midtrans Snap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0" y="3749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mode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063240"/>
            <a:ext cx="548640" cy="0"/>
          </a:xfrm>
          <a:prstGeom prst="line">
            <a:avLst/>
          </a:prstGeom>
          <a:noFill/>
          <a:ln w="25400">
            <a:solidFill>
              <a:srgbClr val="6B556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69280" y="3063240"/>
            <a:ext cx="548640" cy="0"/>
          </a:xfrm>
          <a:prstGeom prst="line">
            <a:avLst/>
          </a:prstGeom>
          <a:noFill/>
          <a:ln w="25400">
            <a:solidFill>
              <a:srgbClr val="6B556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95360" y="2743200"/>
            <a:ext cx="502920" cy="0"/>
          </a:xfrm>
          <a:prstGeom prst="line">
            <a:avLst/>
          </a:prstGeom>
          <a:noFill/>
          <a:ln w="25400">
            <a:solidFill>
              <a:srgbClr val="6B556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95360" y="3383280"/>
            <a:ext cx="502920" cy="502920"/>
          </a:xfrm>
          <a:prstGeom prst="line">
            <a:avLst/>
          </a:prstGeom>
          <a:noFill/>
          <a:ln w="25400">
            <a:solidFill>
              <a:srgbClr val="6B556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743200" y="3108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3108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request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5394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membuka aplikasi React di browser.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502920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31920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API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5394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memanggil REST API dengan Bearer token.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502920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66560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DB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5394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mengambil/menulis data ke MySQL via Eloquent.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52560" y="502920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A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601200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payment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601200" y="5394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checkout, Laravel memanggil Midtrans Snap.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UJK BNSP Junior Web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</a:rPr>
              <a:t>04</a:t>
            </a:r>
          </a:p>
        </p:txBody>
      </p:sp>
      <p:sp>
        <p:nvSpPr>
          <p:cNvPr id="3" name="title"/>
          <p:cNvSpPr/>
          <p:nvPr/>
        </p:nvSpPr>
        <p:spPr>
          <a:xfrm>
            <a:off x="54864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</a:rPr>
              <a:t>Use Case Diagram</a:t>
            </a:r>
          </a:p>
        </p:txBody>
      </p:sp>
      <p:sp>
        <p:nvSpPr>
          <p:cNvPr id="4" name="sub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6B5563"/>
                </a:solidFill>
                <a:latin typeface="Calibri" pitchFamily="34" charset="0"/>
              </a:rPr>
              <a:t>Interaksi User dan Admin dengan </a:t>
            </a:r>
            <a:r>
              <a:rPr lang="en-US" sz="1400" i="1" dirty="0" err="1">
                <a:solidFill>
                  <a:srgbClr val="6B5563"/>
                </a:solidFill>
                <a:latin typeface="Calibri" pitchFamily="34" charset="0"/>
              </a:rPr>
              <a:t>sistem</a:t>
            </a:r>
            <a:r>
              <a:rPr lang="en-US" sz="1400" i="1" dirty="0">
                <a:solidFill>
                  <a:srgbClr val="6B5563"/>
                </a:solidFill>
                <a:latin typeface="Calibri" pitchFamily="34" charset="0"/>
              </a:rPr>
              <a:t> </a:t>
            </a:r>
            <a:r>
              <a:rPr lang="en-US" sz="14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endParaRPr lang="en-US" sz="1400" i="1" dirty="0">
              <a:solidFill>
                <a:srgbClr val="6B5563"/>
              </a:solidFill>
              <a:latin typeface="Calibri" pitchFamily="34" charset="0"/>
            </a:endParaRPr>
          </a:p>
        </p:txBody>
      </p:sp>
      <p:sp>
        <p:nvSpPr>
          <p:cNvPr id="6" name="pgnum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</a:rPr>
              <a:t>7 / 15</a:t>
            </a:r>
          </a:p>
        </p:txBody>
      </p:sp>
      <p:sp>
        <p:nvSpPr>
          <p:cNvPr id="7" name="footer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</a:rPr>
              <a:t>  ·  UJK BNSP Junior Web Developer</a:t>
            </a:r>
          </a:p>
        </p:txBody>
      </p:sp>
      <p:pic>
        <p:nvPicPr>
          <p:cNvPr id="11" name="Gambar 10">
            <a:extLst>
              <a:ext uri="{FF2B5EF4-FFF2-40B4-BE49-F238E27FC236}">
                <a16:creationId xmlns:a16="http://schemas.microsoft.com/office/drawing/2014/main" id="{CCCF866D-F176-24FC-3300-1E3D3B2F0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905" y="1738001"/>
            <a:ext cx="9152190" cy="47183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Relationship Diagram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relasi antar tabel database </a:t>
            </a:r>
            <a:r>
              <a:rPr lang="en-US" sz="14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endParaRPr lang="en-US" sz="1400" dirty="0"/>
          </a:p>
        </p:txBody>
      </p:sp>
      <p:pic>
        <p:nvPicPr>
          <p:cNvPr id="5" name="Image 0" descr="/home/claude/booksales/e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103120"/>
            <a:ext cx="1106424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UJK BNSP Junior Web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Fitur Admin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 sistem yang mengontrol seluruh data toko buku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04872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2677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Kategori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6151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Delete genre / kategori buku.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404872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22677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Penulis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26151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data author beserta foto &amp; bio.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456432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3192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Kelola Data Buku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6667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buku lengkap dengan cover, harga, stok.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456432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33192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User Terdaftar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36667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daftar seluruh user yang sudah registrasi.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507992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07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37083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Pesanan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47183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seluruh transaksi dari berbagai user.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25196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507992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507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437083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Status Pesanan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95160" y="47183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status: dibayar → dikirim → selesai.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0352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559552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559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542239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Balas Pesan User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25880" y="57698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Membalas pesan dari fitur chat dan formulir kontak.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530352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5559552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5559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542239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Statistik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995160" y="57698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penjualan, jumlah user, dan jumlah buku.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UJK BNSP Junior Web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Fitur User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yang melakukan pembelian buku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04872"/>
            <a:ext cx="411480" cy="4114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2677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Registrasi &amp; Login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6151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Mendaftar dan masuk dengan email &amp; password.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404872"/>
            <a:ext cx="411480" cy="4114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404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22677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Halaman About 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261518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informasi mengenai aplikasi dan toko.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456432"/>
            <a:ext cx="411480" cy="4114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3192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to Admin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6667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pesan ke admin via formulir kontak.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456432"/>
            <a:ext cx="411480" cy="4114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33192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Pencarian Buku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366674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buku berdasarkan judul atau filter genre.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507992"/>
            <a:ext cx="411480" cy="4114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07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37083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to Cart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47183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Memasukkan buku ke keranjang belanja.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25196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507992"/>
            <a:ext cx="411480" cy="4114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507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437083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 &amp; Pembayaran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95160" y="47183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via Midtrans Snap (sebelum dikirim).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0352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559552"/>
            <a:ext cx="411480" cy="4114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559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542239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Riwayat Transaksi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325880" y="57698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daftar pesanan dan statusnya.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5303520"/>
            <a:ext cx="5394960" cy="91440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5559552"/>
            <a:ext cx="411480" cy="4114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5559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542239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ke Admin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995160" y="57698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langsung dengan admin.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UJK BNSP Junior Web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Integrasi Midtrans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alur pembayaran Midtrans Snap mode sandbox</a:t>
            </a:r>
            <a:endParaRPr lang="en-US" sz="1400" dirty="0"/>
          </a:p>
        </p:txBody>
      </p:sp>
      <p:pic>
        <p:nvPicPr>
          <p:cNvPr id="5" name="Image 0" descr="/home/claude/booksales/midtra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103120"/>
            <a:ext cx="795528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78240" y="2103120"/>
            <a:ext cx="3108960" cy="4343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 Alur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61120" y="2697480"/>
            <a:ext cx="73152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32688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Checkout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6112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326880" y="33467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pending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96112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326880" y="3767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token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6112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326880" y="4187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Snap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6112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326880" y="4608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bayar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96112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32688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callback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61120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326880" y="54498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signature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961120" y="5870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326880" y="5870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UJK BNSP Junior Web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 UI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944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aplikasi yang berjalan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Sisipkan screenshot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18407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Halaman Login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Sisipkan screenshot 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3618407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Katalog Buku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Sisipkan screenshot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3618407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 Buku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Sisipkan screenshot 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133007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Keranjang (Cart)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4846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Sisipkan screenshot 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6133007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 Midtrans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Sisipkan screenshot 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6133007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Admin</a:t>
            </a:r>
            <a:endParaRPr lang="en-US" sz="1400" dirty="0"/>
          </a:p>
        </p:txBody>
      </p:sp>
      <p:grpSp>
        <p:nvGrpSpPr>
          <p:cNvPr id="25" name="Grup 24">
            <a:extLst>
              <a:ext uri="{FF2B5EF4-FFF2-40B4-BE49-F238E27FC236}">
                <a16:creationId xmlns:a16="http://schemas.microsoft.com/office/drawing/2014/main" id="{C98C6E0E-4783-B426-ADC9-9BC5EB971030}"/>
              </a:ext>
            </a:extLst>
          </p:cNvPr>
          <p:cNvGrpSpPr/>
          <p:nvPr/>
        </p:nvGrpSpPr>
        <p:grpSpPr>
          <a:xfrm>
            <a:off x="457200" y="6446520"/>
            <a:ext cx="11457432" cy="274320"/>
            <a:chOff x="457200" y="6446520"/>
            <a:chExt cx="11457432" cy="274320"/>
          </a:xfrm>
        </p:grpSpPr>
        <p:sp>
          <p:nvSpPr>
            <p:cNvPr id="23" name="Text 21"/>
            <p:cNvSpPr/>
            <p:nvPr/>
          </p:nvSpPr>
          <p:spPr>
            <a:xfrm>
              <a:off x="11091672" y="6446520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 / 15</a:t>
              </a:r>
              <a:endParaRPr lang="en-US" sz="1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57200" y="644652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 err="1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PustakaIkhlas</a:t>
              </a:r>
              <a:r>
                <a:rPr lang="en-US" sz="1000" i="1" dirty="0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·  UJK BNSP Junior Web Developer</a:t>
              </a:r>
              <a:endParaRPr lang="en-US" sz="1000" dirty="0"/>
            </a:p>
          </p:txBody>
        </p:sp>
      </p:grpSp>
      <p:pic>
        <p:nvPicPr>
          <p:cNvPr id="26" name="Gambar 25">
            <a:extLst>
              <a:ext uri="{FF2B5EF4-FFF2-40B4-BE49-F238E27FC236}">
                <a16:creationId xmlns:a16="http://schemas.microsoft.com/office/drawing/2014/main" id="{A995FE48-128B-4103-F34F-D4E97D39C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920" y="1843200"/>
            <a:ext cx="3200000" cy="1800000"/>
          </a:xfrm>
          <a:prstGeom prst="rect">
            <a:avLst/>
          </a:prstGeom>
        </p:spPr>
      </p:pic>
      <p:pic>
        <p:nvPicPr>
          <p:cNvPr id="28" name="Gambar 27">
            <a:extLst>
              <a:ext uri="{FF2B5EF4-FFF2-40B4-BE49-F238E27FC236}">
                <a16:creationId xmlns:a16="http://schemas.microsoft.com/office/drawing/2014/main" id="{89350A4D-645D-5515-31F1-2A70D3CAB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441" y="1852753"/>
            <a:ext cx="3199999" cy="1800000"/>
          </a:xfrm>
          <a:prstGeom prst="rect">
            <a:avLst/>
          </a:prstGeom>
        </p:spPr>
      </p:pic>
      <p:pic>
        <p:nvPicPr>
          <p:cNvPr id="30" name="Gambar 29">
            <a:extLst>
              <a:ext uri="{FF2B5EF4-FFF2-40B4-BE49-F238E27FC236}">
                <a16:creationId xmlns:a16="http://schemas.microsoft.com/office/drawing/2014/main" id="{1D19CAB4-66DC-3C8C-6049-3DBBDFC74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400" y="1828800"/>
            <a:ext cx="3200000" cy="1800000"/>
          </a:xfrm>
          <a:prstGeom prst="rect">
            <a:avLst/>
          </a:prstGeom>
        </p:spPr>
      </p:pic>
      <p:pic>
        <p:nvPicPr>
          <p:cNvPr id="32" name="Gambar 31">
            <a:extLst>
              <a:ext uri="{FF2B5EF4-FFF2-40B4-BE49-F238E27FC236}">
                <a16:creationId xmlns:a16="http://schemas.microsoft.com/office/drawing/2014/main" id="{A8A7E6F4-A349-3B81-887B-13292F04D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440" y="4365235"/>
            <a:ext cx="3200000" cy="1800000"/>
          </a:xfrm>
          <a:prstGeom prst="rect">
            <a:avLst/>
          </a:prstGeom>
        </p:spPr>
      </p:pic>
      <p:pic>
        <p:nvPicPr>
          <p:cNvPr id="34" name="Gambar 33">
            <a:extLst>
              <a:ext uri="{FF2B5EF4-FFF2-40B4-BE49-F238E27FC236}">
                <a16:creationId xmlns:a16="http://schemas.microsoft.com/office/drawing/2014/main" id="{86B3E809-4CAD-3C11-BBD8-4C32564175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9987" y="4367369"/>
            <a:ext cx="3192413" cy="1795733"/>
          </a:xfrm>
          <a:prstGeom prst="rect">
            <a:avLst/>
          </a:prstGeom>
        </p:spPr>
      </p:pic>
      <p:pic>
        <p:nvPicPr>
          <p:cNvPr id="36" name="Gambar 35">
            <a:extLst>
              <a:ext uri="{FF2B5EF4-FFF2-40B4-BE49-F238E27FC236}">
                <a16:creationId xmlns:a16="http://schemas.microsoft.com/office/drawing/2014/main" id="{19C164DE-D3C4-8437-AC2F-7FE13D33C1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8844" y="4343054"/>
            <a:ext cx="3200000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Potongan Kode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58816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Midtrans Webhook Callback - Verifikasi Signature &amp; Update Status Transaksi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04216"/>
            <a:ext cx="7315200" cy="3657600"/>
          </a:xfrm>
          <a:prstGeom prst="roundRect">
            <a:avLst>
              <a:gd name="adj" fmla="val 2000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13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TransactionController.php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52360" y="216880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216880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26680" y="216880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388264"/>
            <a:ext cx="7040880" cy="0"/>
          </a:xfrm>
          <a:prstGeom prst="line">
            <a:avLst/>
          </a:prstGeom>
          <a:noFill/>
          <a:ln w="9525">
            <a:solidFill>
              <a:srgbClr val="2A26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07136"/>
            <a:ext cx="6858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</a:t>
            </a:r>
            <a:r>
              <a:rPr lang="en-US" sz="11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midtransCallback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$request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Ambil data notifikasi dari Midtrans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$notification 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$request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1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$orderId 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$notification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'order_id'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$statusCode 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$notification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'status_code'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$grossAmount 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$notification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'gross_amount'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Verifikasi signature SHA-512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$serverKey 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'services.midtrans.server_key'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$expected 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1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'sha512'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$orderId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$statusCode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$grossAmount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$serverKey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$notification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'signature_key'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!== </a:t>
            </a:r>
            <a:r>
              <a:rPr lang="en-US" sz="1100" dirty="0">
                <a:solidFill>
                  <a:srgbClr val="F5A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$expected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1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()-&gt;</a:t>
            </a:r>
            <a:r>
              <a:rPr lang="en-US" sz="11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1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'message'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11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'Invalid signature'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100" dirty="0">
                <a:solidFill>
                  <a:srgbClr val="B5E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403</a:t>
            </a: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Update status berdasarkan transaction_status...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20042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2324256"/>
            <a:ext cx="3246120" cy="0"/>
          </a:xfrm>
          <a:prstGeom prst="line">
            <a:avLst/>
          </a:prstGeom>
          <a:noFill/>
          <a:ln w="9525">
            <a:solidFill>
              <a:srgbClr val="E8D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55285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552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25345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server-to-server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28454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pakai auth Sanctum, signature SHA-512 sebagai pengganti otorisasi keamanan.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355869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558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0" y="35404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hash SHA-512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385130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order_id + status_code + gross_amount + server_key, lalu bandingkan dengan signature dari Midtrans.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465597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4655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46376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 signature palsu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0" y="494858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403 Forbidden jika signature mismatch - mencegah attacker mengirim fake notification.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2460" y="5783580"/>
            <a:ext cx="10927080" cy="502920"/>
          </a:xfrm>
          <a:prstGeom prst="roundRect">
            <a:avLst>
              <a:gd name="adj" fmla="val 9091"/>
            </a:avLst>
          </a:prstGeom>
          <a:solidFill>
            <a:srgbClr val="FAF6EF"/>
          </a:solidFill>
          <a:ln w="6350">
            <a:solidFill>
              <a:srgbClr val="E8DFD3"/>
            </a:solidFill>
            <a:prstDash val="solid"/>
          </a:ln>
        </p:spPr>
      </p:sp>
      <p:grpSp>
        <p:nvGrpSpPr>
          <p:cNvPr id="35" name="Grup 34">
            <a:extLst>
              <a:ext uri="{FF2B5EF4-FFF2-40B4-BE49-F238E27FC236}">
                <a16:creationId xmlns:a16="http://schemas.microsoft.com/office/drawing/2014/main" id="{A332F6DF-9DFB-B8A0-0B8D-8AE195A594BF}"/>
              </a:ext>
            </a:extLst>
          </p:cNvPr>
          <p:cNvGrpSpPr/>
          <p:nvPr/>
        </p:nvGrpSpPr>
        <p:grpSpPr>
          <a:xfrm>
            <a:off x="868680" y="5788152"/>
            <a:ext cx="10515600" cy="420624"/>
            <a:chOff x="868680" y="6099048"/>
            <a:chExt cx="10515600" cy="420624"/>
          </a:xfrm>
        </p:grpSpPr>
        <p:sp>
          <p:nvSpPr>
            <p:cNvPr id="27" name="Text 25"/>
            <p:cNvSpPr/>
            <p:nvPr/>
          </p:nvSpPr>
          <p:spPr>
            <a:xfrm>
              <a:off x="868680" y="6099048"/>
              <a:ext cx="14630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C9A9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 PRACTICE</a:t>
              </a:r>
              <a:endParaRPr lang="en-US" sz="9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68680" y="6291072"/>
              <a:ext cx="1051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4A1F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Server key disimpan di file </a:t>
              </a:r>
              <a:r>
                <a:rPr lang="en-US" sz="1000" b="1" dirty="0">
                  <a:solidFill>
                    <a:srgbClr val="4A1F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.env</a:t>
              </a:r>
              <a:r>
                <a:rPr lang="en-US" sz="1000" dirty="0">
                  <a:solidFill>
                    <a:srgbClr val="4A1F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via config('services.midtrans.server_key'), tidak hardcode di kode sumber - menjaga kerahasiaan kredensial dan mendukung deployment multi-environment (sandbox vs production).</a:t>
              </a:r>
              <a:endParaRPr lang="en-US" sz="1000" dirty="0"/>
            </a:p>
          </p:txBody>
        </p:sp>
      </p:grpSp>
      <p:grpSp>
        <p:nvGrpSpPr>
          <p:cNvPr id="32" name="Grup 31">
            <a:extLst>
              <a:ext uri="{FF2B5EF4-FFF2-40B4-BE49-F238E27FC236}">
                <a16:creationId xmlns:a16="http://schemas.microsoft.com/office/drawing/2014/main" id="{F3AF6486-59F1-8DD8-5583-F086860866BF}"/>
              </a:ext>
            </a:extLst>
          </p:cNvPr>
          <p:cNvGrpSpPr/>
          <p:nvPr/>
        </p:nvGrpSpPr>
        <p:grpSpPr>
          <a:xfrm>
            <a:off x="457200" y="6446520"/>
            <a:ext cx="11457432" cy="274320"/>
            <a:chOff x="457200" y="6446520"/>
            <a:chExt cx="11457432" cy="274320"/>
          </a:xfrm>
        </p:grpSpPr>
        <p:sp>
          <p:nvSpPr>
            <p:cNvPr id="33" name="Text 21">
              <a:extLst>
                <a:ext uri="{FF2B5EF4-FFF2-40B4-BE49-F238E27FC236}">
                  <a16:creationId xmlns:a16="http://schemas.microsoft.com/office/drawing/2014/main" id="{709440F1-A01A-6A98-258B-BD5169E1D516}"/>
                </a:ext>
              </a:extLst>
            </p:cNvPr>
            <p:cNvSpPr/>
            <p:nvPr/>
          </p:nvSpPr>
          <p:spPr>
            <a:xfrm>
              <a:off x="11091672" y="6446520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 / 15</a:t>
              </a:r>
              <a:endParaRPr lang="en-US" sz="1000" dirty="0"/>
            </a:p>
          </p:txBody>
        </p:sp>
        <p:sp>
          <p:nvSpPr>
            <p:cNvPr id="34" name="Text 22">
              <a:extLst>
                <a:ext uri="{FF2B5EF4-FFF2-40B4-BE49-F238E27FC236}">
                  <a16:creationId xmlns:a16="http://schemas.microsoft.com/office/drawing/2014/main" id="{45CABD7F-2971-15CA-5367-9112DE76BC5D}"/>
                </a:ext>
              </a:extLst>
            </p:cNvPr>
            <p:cNvSpPr/>
            <p:nvPr/>
          </p:nvSpPr>
          <p:spPr>
            <a:xfrm>
              <a:off x="457200" y="644652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 err="1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PustakaIkhlas</a:t>
              </a:r>
              <a:r>
                <a:rPr lang="en-US" sz="1000" i="1" dirty="0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·  UJK BNSP Junior Web Developer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 Folder Project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7647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Organisasi file backend Laravel dan frontend React mengikuti konvensi resmi &amp; feature-based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463040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1856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F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Laravel 13 - PHP 8.3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5532120" cy="3442436"/>
          </a:xfrm>
          <a:prstGeom prst="roundRect">
            <a:avLst>
              <a:gd name="adj" fmla="val 2000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04872"/>
            <a:ext cx="516636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booksales-api-laravel/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00" b="1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</a:t>
            </a: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11 controller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AuthController.php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BookController.php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TransactionController.php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</a:t>
            </a:r>
            <a:r>
              <a:rPr lang="en-US" sz="9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</a:t>
            </a: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Admin, Customer guard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# 9 model Eloquent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User.php, Book.php, Genre.php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Transaction.php, Author.php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Conversation.php, Message.php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Console/Commands/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00" b="1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migrations/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Schema history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seeders/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# 20 user + 50 buku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00" b="1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9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api.php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Semua endpoint API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console.php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Scheduler tiap menit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config/services.php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Midtrans config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r>
              <a:rPr lang="en-US" sz="9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Credentials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1463040" cy="2743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55280" y="1856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F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19 - Vite 8 - Tailwind 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240280"/>
            <a:ext cx="5166360" cy="3442436"/>
          </a:xfrm>
          <a:prstGeom prst="roundRect">
            <a:avLst>
              <a:gd name="adj" fmla="val 2000"/>
            </a:avLst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404872"/>
            <a:ext cx="480060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booksales/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00" b="1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9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Route definitions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9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main.jsx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Entry point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layouts/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public.jsx, admin.jsx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Reusable UI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navbar.jsx, footer.jsx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ChatWidget.jsx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ProtectedRoute.jsx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admin/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AdminCrudTable, Form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9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hooks/useCountdown.js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auth/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login, register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public/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catalog, detail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profile/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profile, orders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admin/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# dashboard, CRUD pages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00" dirty="0">
                <a:solidFill>
                  <a:srgbClr val="F2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vite.config.js</a:t>
            </a:r>
            <a:r>
              <a:rPr lang="en-US" sz="900" i="1" dirty="0">
                <a:solidFill>
                  <a:srgbClr val="8B8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00" dirty="0">
                <a:solidFill>
                  <a:srgbClr val="E8E3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8A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r>
              <a:rPr lang="en-US" sz="900" dirty="0" err="1">
                <a:solidFill>
                  <a:srgbClr val="9D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900" dirty="0">
              <a:solidFill>
                <a:srgbClr val="9DC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grpSp>
        <p:nvGrpSpPr>
          <p:cNvPr id="21" name="Grup 20">
            <a:extLst>
              <a:ext uri="{FF2B5EF4-FFF2-40B4-BE49-F238E27FC236}">
                <a16:creationId xmlns:a16="http://schemas.microsoft.com/office/drawing/2014/main" id="{8D921AF6-7F18-6676-75C1-E0538CDBFB02}"/>
              </a:ext>
            </a:extLst>
          </p:cNvPr>
          <p:cNvGrpSpPr/>
          <p:nvPr/>
        </p:nvGrpSpPr>
        <p:grpSpPr>
          <a:xfrm>
            <a:off x="640080" y="5823235"/>
            <a:ext cx="10927080" cy="502920"/>
            <a:chOff x="640080" y="6035040"/>
            <a:chExt cx="10927080" cy="502920"/>
          </a:xfrm>
        </p:grpSpPr>
        <p:sp>
          <p:nvSpPr>
            <p:cNvPr id="15" name="Shape 13"/>
            <p:cNvSpPr/>
            <p:nvPr/>
          </p:nvSpPr>
          <p:spPr>
            <a:xfrm>
              <a:off x="640080" y="6035040"/>
              <a:ext cx="10927080" cy="502920"/>
            </a:xfrm>
            <a:prstGeom prst="roundRect">
              <a:avLst>
                <a:gd name="adj" fmla="val 9091"/>
              </a:avLst>
            </a:prstGeom>
            <a:solidFill>
              <a:srgbClr val="FAF6EF"/>
            </a:solidFill>
            <a:ln w="6350">
              <a:solidFill>
                <a:srgbClr val="E8DFD3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868680" y="6061819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C9A9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PRINSIP ORGANISASI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68680" y="6253843"/>
              <a:ext cx="10515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4A1F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Backend: </a:t>
              </a:r>
              <a:r>
                <a:rPr lang="en-US" sz="1000" dirty="0">
                  <a:solidFill>
                    <a:srgbClr val="4A1F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MVC pattern - satu controller untuk satu resource (Single Responsibility). </a:t>
              </a:r>
              <a:r>
                <a:rPr lang="en-US" sz="1000" b="1" dirty="0">
                  <a:solidFill>
                    <a:srgbClr val="4A1F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Frontend: </a:t>
              </a:r>
              <a:r>
                <a:rPr lang="en-US" sz="1000" dirty="0">
                  <a:solidFill>
                    <a:srgbClr val="4A1F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feature-based folder (pages/auth, pages/admin) + reusable components dipisah - memudahkan navigasi dan maintenance.</a:t>
              </a:r>
              <a:endParaRPr lang="en-US" sz="1000" dirty="0"/>
            </a:p>
          </p:txBody>
        </p:sp>
      </p:grpSp>
      <p:grpSp>
        <p:nvGrpSpPr>
          <p:cNvPr id="22" name="Grup 21">
            <a:extLst>
              <a:ext uri="{FF2B5EF4-FFF2-40B4-BE49-F238E27FC236}">
                <a16:creationId xmlns:a16="http://schemas.microsoft.com/office/drawing/2014/main" id="{811B00F3-967F-9BD8-5D0C-F6003B70EEAC}"/>
              </a:ext>
            </a:extLst>
          </p:cNvPr>
          <p:cNvGrpSpPr/>
          <p:nvPr/>
        </p:nvGrpSpPr>
        <p:grpSpPr>
          <a:xfrm>
            <a:off x="457200" y="6446520"/>
            <a:ext cx="11457432" cy="274320"/>
            <a:chOff x="457200" y="6446520"/>
            <a:chExt cx="11457432" cy="274320"/>
          </a:xfrm>
        </p:grpSpPr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FB751EA4-0AC5-22B2-8D88-7CB1A42EB87B}"/>
                </a:ext>
              </a:extLst>
            </p:cNvPr>
            <p:cNvSpPr/>
            <p:nvPr/>
          </p:nvSpPr>
          <p:spPr>
            <a:xfrm>
              <a:off x="11091672" y="6446520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 / 15</a:t>
              </a:r>
              <a:endParaRPr lang="en-US" sz="10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E5B7AB63-9132-612B-6391-8B28ED4C78D8}"/>
                </a:ext>
              </a:extLst>
            </p:cNvPr>
            <p:cNvSpPr/>
            <p:nvPr/>
          </p:nvSpPr>
          <p:spPr>
            <a:xfrm>
              <a:off x="457200" y="6446520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 err="1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PustakaIkhlas</a:t>
              </a:r>
              <a:r>
                <a:rPr lang="en-US" sz="1000" i="1" dirty="0">
                  <a:solidFill>
                    <a:srgbClr val="6B55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·  UJK BNSP Junior Web Developer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GitHub dan akun untuk pengujian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577840" cy="1828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Laravel API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github.com/ikhlaspp/booksales-api-laravel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  ·  PHP 8.3  ·  Sanctum  ·  Midtrans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303520" cy="18288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App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7960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github.com/ikhlaspp/booksales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Tailwind CSS  ·  Vite  ·  Axios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Akun Default untuk Pengujian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admin@toko.com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adminpass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0" y="5166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50408"/>
            <a:ext cx="11064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550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budi@email.com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5550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password123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5550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934456"/>
            <a:ext cx="11064240" cy="365760"/>
          </a:xfrm>
          <a:prstGeom prst="rect">
            <a:avLst/>
          </a:prstGeom>
          <a:solidFill>
            <a:srgbClr val="F7F1E5"/>
          </a:solidFill>
          <a:ln w="12700">
            <a:solidFill>
              <a:srgbClr val="D9CB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9344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siti@email.com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5934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rahasia321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0" y="59344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09167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PustakaIkhlas</a:t>
            </a:r>
            <a:r>
              <a:rPr lang="en-US" sz="1000" i="1" dirty="0">
                <a:solidFill>
                  <a:srgbClr val="6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UJK BNSP Junior Web Developer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274320" cy="6858000"/>
          </a:xfrm>
          <a:prstGeom prst="rect">
            <a:avLst/>
          </a:prstGeom>
          <a:solidFill>
            <a:srgbClr val="8B4A63"/>
          </a:solidFill>
          <a:ln w="12700">
            <a:solidFill>
              <a:srgbClr val="8B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0"/>
            <a:ext cx="457200" cy="6858000"/>
          </a:xfrm>
          <a:prstGeom prst="rect">
            <a:avLst/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320040" cy="68580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54864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1031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0" b="1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Kasih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36576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 perhatian dan waktu Anda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0" y="4389120"/>
            <a:ext cx="109728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diskusi terbuka untuk pertanyaan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Ikhlas Putra Pambagyo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UJK BNSP Junior Web Developer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1672</Words>
  <Application>Microsoft Office PowerPoint</Application>
  <PresentationFormat>Layar Lebar</PresentationFormat>
  <Paragraphs>373</Paragraphs>
  <Slides>16</Slides>
  <Notes>16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BookSales — Toko Buku Online</dc:title>
  <dc:subject>PptxGenJS Presentation</dc:subject>
  <dc:creator>Ikhlas Putra Pambagyo</dc:creator>
  <cp:lastModifiedBy>ikhlas putra</cp:lastModifiedBy>
  <cp:revision>7</cp:revision>
  <dcterms:created xsi:type="dcterms:W3CDTF">2026-05-17T16:55:13Z</dcterms:created>
  <dcterms:modified xsi:type="dcterms:W3CDTF">2026-05-19T08:57:31Z</dcterms:modified>
</cp:coreProperties>
</file>